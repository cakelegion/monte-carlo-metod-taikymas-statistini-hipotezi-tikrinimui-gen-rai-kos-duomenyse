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54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Pristatyti save. Darbo tema: lyginome t-testą ir Monte Carlo permutacinį testą genų raiškos analizėje, naudodami Alzheimerio ligos duomenis.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Trumpai apžvelgti struktūrą. Darbas metodologinis — lyginame du metodus realiuose duomenyse.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Paaiškinti: post-mortem audiniai sunkiai prieinami. Etiniai ir finansiniai apribojimai. Monte Carlo leidžia testuoti be distribucijos prielaidų.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Parodyti log transformacijos grafiką (1 pav.). Paaiškinti kodėl būtina — asimetriška distribucija.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Trumpai paaiškinti formulę. Vardiklis = standartinė paklaida = vidinis variabilumas. Didelė t → skirtumas didelis palyginus su triukšmu.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Paaiškinti logiką: jei etiketės nieko nereiškia (H0 teisinga), atsitiktinis maišymas turėtų duoti panašius skirtumus. P-reikšmė = kiek kartų atsitiktinis skirtumas ≥ stebėtam.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Parodyti 2 pav. Paaiškinti: histograma = ką gautume jei grupės atsitiktinės. Raudona linija = mūsų realus stebėjimas. P-reikšmė vizualiai matoma.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Pabrėžti: sutarimas toks stiprus nes po log2 transformacijos duomenys artimi normaliam skirstiniui. FDR korekcija drastiškai mažina reikšmingų genų skaičių.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Parodyti 4 pav. — raudonos linijos visiškai už histogramos. Paaiškinti grindų efektą: net su B=100 000, min p = 1/100 001 — negalime pasiekti 6×10^-7.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Paaiškinti: tai praktinė rekomendacija. B=100 per mažai. B=5000 optimalus. B&gt;5000 naudos mažai bet laiko kainuoja.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Apibendrinti: Monte Carlo vertingas kai normalumo prielaida abejotina. Reikia žinoti apribojimus. Galimi klausimai: kodėl ne Wilcoxon, FDR prasmė, grindų efektas.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Pasiruošti klausimams: kodėl ne Wilcoxon? FDR prasmė? Grindų efektas? Kodėl log2 transformacija?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43000" y="11887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/>
              <a:t>Monte Carlo metodų taikymas</a:t>
            </a:r>
          </a:p>
          <a:p>
            <a:pPr marL="0" indent="0" algn="ctr">
              <a:buNone/>
            </a:pPr>
            <a:r>
              <a:rPr lang="en-US" sz="3200" b="1" dirty="0"/>
              <a:t>statistinių hipotezių tikrinimui</a:t>
            </a:r>
          </a:p>
          <a:p>
            <a:pPr marL="0" indent="0" algn="ctr">
              <a:buNone/>
            </a:pPr>
            <a:r>
              <a:rPr lang="en-US" sz="3200" b="1" dirty="0"/>
              <a:t>genų raiškos duomenyse</a:t>
            </a:r>
          </a:p>
        </p:txBody>
      </p:sp>
      <p:sp>
        <p:nvSpPr>
          <p:cNvPr id="7" name="Text 5"/>
          <p:cNvSpPr/>
          <p:nvPr/>
        </p:nvSpPr>
        <p:spPr>
          <a:xfrm>
            <a:off x="82296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</a:rPr>
              <a:t>Margiris Antanas Malakauskas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</a:rPr>
              <a:t>Vadovas: lekt. Irus Grinis · VU MIF · 2026</a:t>
            </a:r>
            <a:endParaRPr lang="en-US" sz="1100" dirty="0"/>
          </a:p>
        </p:txBody>
      </p:sp>
      <p:pic>
        <p:nvPicPr>
          <p:cNvPr id="10" name="Picture 9" descr="MIFIS">
            <a:extLst>
              <a:ext uri="{FF2B5EF4-FFF2-40B4-BE49-F238E27FC236}">
                <a16:creationId xmlns:a16="http://schemas.microsoft.com/office/drawing/2014/main" id="{EA262997-84C9-E2AB-874F-DB12171F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65722"/>
            <a:ext cx="141922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137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 err="1"/>
              <a:t>Turinys</a:t>
            </a:r>
            <a:endParaRPr lang="en-US" sz="3200" b="1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04040"/>
                </a:solidFill>
              </a:rPr>
              <a:t>Tikslas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Naudojami duomenys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Naudoti Metodai: </a:t>
            </a:r>
            <a:r>
              <a:rPr lang="lt-LT" sz="1600" dirty="0" err="1">
                <a:solidFill>
                  <a:srgbClr val="404040"/>
                </a:solidFill>
              </a:rPr>
              <a:t>Monte</a:t>
            </a:r>
            <a:r>
              <a:rPr lang="lt-LT" sz="1600" dirty="0">
                <a:solidFill>
                  <a:srgbClr val="404040"/>
                </a:solidFill>
              </a:rPr>
              <a:t> </a:t>
            </a:r>
            <a:r>
              <a:rPr lang="lt-LT" sz="1600" dirty="0" err="1">
                <a:solidFill>
                  <a:srgbClr val="404040"/>
                </a:solidFill>
              </a:rPr>
              <a:t>Carlo</a:t>
            </a:r>
            <a:r>
              <a:rPr lang="lt-LT" sz="1600" dirty="0">
                <a:solidFill>
                  <a:srgbClr val="404040"/>
                </a:solidFill>
              </a:rPr>
              <a:t> ir t-testas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04040"/>
                </a:solidFill>
              </a:rPr>
              <a:t>Rezultatai</a:t>
            </a:r>
            <a:r>
              <a:rPr lang="en-US" sz="1600" dirty="0">
                <a:solidFill>
                  <a:srgbClr val="404040"/>
                </a:solidFill>
              </a:rPr>
              <a:t> </a:t>
            </a:r>
            <a:r>
              <a:rPr lang="en-US" sz="1600" dirty="0" err="1">
                <a:solidFill>
                  <a:srgbClr val="404040"/>
                </a:solidFill>
              </a:rPr>
              <a:t>ir</a:t>
            </a:r>
            <a:r>
              <a:rPr lang="lt-LT" sz="1600" dirty="0">
                <a:solidFill>
                  <a:srgbClr val="404040"/>
                </a:solidFill>
              </a:rPr>
              <a:t> metodų</a:t>
            </a:r>
            <a:r>
              <a:rPr lang="en-US" sz="1600" dirty="0">
                <a:solidFill>
                  <a:srgbClr val="404040"/>
                </a:solidFill>
              </a:rPr>
              <a:t> </a:t>
            </a:r>
            <a:r>
              <a:rPr lang="en-US" sz="1600" dirty="0" err="1">
                <a:solidFill>
                  <a:srgbClr val="404040"/>
                </a:solidFill>
              </a:rPr>
              <a:t>palyginimas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Specifinio a</a:t>
            </a:r>
            <a:r>
              <a:rPr lang="en-US" sz="1600" dirty="0" err="1">
                <a:solidFill>
                  <a:srgbClr val="404040"/>
                </a:solidFill>
              </a:rPr>
              <a:t>tvejo</a:t>
            </a:r>
            <a:r>
              <a:rPr lang="en-US" sz="1600" dirty="0">
                <a:solidFill>
                  <a:srgbClr val="404040"/>
                </a:solidFill>
              </a:rPr>
              <a:t> </a:t>
            </a:r>
            <a:r>
              <a:rPr lang="en-US" sz="1600" dirty="0" err="1">
                <a:solidFill>
                  <a:srgbClr val="404040"/>
                </a:solidFill>
              </a:rPr>
              <a:t>analizė</a:t>
            </a:r>
            <a:r>
              <a:rPr lang="en-US" sz="1600" dirty="0">
                <a:solidFill>
                  <a:srgbClr val="404040"/>
                </a:solidFill>
              </a:rPr>
              <a:t>: </a:t>
            </a:r>
            <a:r>
              <a:rPr lang="en-US" sz="1600" dirty="0" err="1">
                <a:solidFill>
                  <a:srgbClr val="404040"/>
                </a:solidFill>
              </a:rPr>
              <a:t>genas</a:t>
            </a:r>
            <a:r>
              <a:rPr lang="en-US" sz="1600" dirty="0">
                <a:solidFill>
                  <a:srgbClr val="404040"/>
                </a:solidFill>
              </a:rPr>
              <a:t> 203894_at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04040"/>
                </a:solidFill>
              </a:rPr>
              <a:t>Stabilumo</a:t>
            </a:r>
            <a:r>
              <a:rPr lang="en-US" sz="1600" dirty="0">
                <a:solidFill>
                  <a:srgbClr val="404040"/>
                </a:solidFill>
              </a:rPr>
              <a:t> </a:t>
            </a:r>
            <a:r>
              <a:rPr lang="en-US" sz="1600" dirty="0" err="1">
                <a:solidFill>
                  <a:srgbClr val="404040"/>
                </a:solidFill>
              </a:rPr>
              <a:t>analizė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04040"/>
                </a:solidFill>
              </a:rPr>
              <a:t>Išvados</a:t>
            </a:r>
            <a:endParaRPr lang="en-US" sz="1600" dirty="0"/>
          </a:p>
        </p:txBody>
      </p:sp>
      <p:pic>
        <p:nvPicPr>
          <p:cNvPr id="9" name="Picture 8" descr="MIFIS">
            <a:extLst>
              <a:ext uri="{FF2B5EF4-FFF2-40B4-BE49-F238E27FC236}">
                <a16:creationId xmlns:a16="http://schemas.microsoft.com/office/drawing/2014/main" id="{C5D91A19-5D1E-1CEC-6A18-D0DB9D8905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65722"/>
            <a:ext cx="141922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137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lt-LT" sz="3200" b="1" dirty="0"/>
              <a:t>Įvadas ir tikslas</a:t>
            </a:r>
            <a:endParaRPr lang="en-US" sz="3200" b="1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Kas yra Alzheimeris?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Kas yra genų raiška?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Kodėl buvo naudojama </a:t>
            </a:r>
            <a:r>
              <a:rPr lang="lt-LT" sz="1600" dirty="0" err="1">
                <a:solidFill>
                  <a:srgbClr val="404040"/>
                </a:solidFill>
              </a:rPr>
              <a:t>Monte</a:t>
            </a:r>
            <a:r>
              <a:rPr lang="lt-LT" sz="1600" dirty="0">
                <a:solidFill>
                  <a:srgbClr val="404040"/>
                </a:solidFill>
              </a:rPr>
              <a:t> </a:t>
            </a:r>
            <a:r>
              <a:rPr lang="lt-LT" sz="1600" dirty="0" err="1">
                <a:solidFill>
                  <a:srgbClr val="404040"/>
                </a:solidFill>
              </a:rPr>
              <a:t>Carlo</a:t>
            </a:r>
            <a:r>
              <a:rPr lang="lt-LT" sz="1600" dirty="0">
                <a:solidFill>
                  <a:srgbClr val="404040"/>
                </a:solidFill>
              </a:rPr>
              <a:t> metodai?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Kodėl nesinaudota tiktais t-testu?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Tikslas – pritaikyti </a:t>
            </a:r>
            <a:r>
              <a:rPr lang="lt-LT" sz="1600" dirty="0" err="1">
                <a:solidFill>
                  <a:srgbClr val="404040"/>
                </a:solidFill>
              </a:rPr>
              <a:t>Monte</a:t>
            </a:r>
            <a:r>
              <a:rPr lang="lt-LT" sz="1600" dirty="0">
                <a:solidFill>
                  <a:srgbClr val="404040"/>
                </a:solidFill>
              </a:rPr>
              <a:t> </a:t>
            </a:r>
            <a:r>
              <a:rPr lang="lt-LT" sz="1600" dirty="0" err="1">
                <a:solidFill>
                  <a:srgbClr val="404040"/>
                </a:solidFill>
              </a:rPr>
              <a:t>Carlo</a:t>
            </a:r>
            <a:r>
              <a:rPr lang="lt-LT" sz="1600" dirty="0">
                <a:solidFill>
                  <a:srgbClr val="404040"/>
                </a:solidFill>
              </a:rPr>
              <a:t> Metodus Alzheimerio ligos genų analizėje ir palyginti šių metodų svarbą ir naudą su kitais dažnais statistiniais metodais (šiuo </a:t>
            </a:r>
            <a:r>
              <a:rPr lang="lt-LT" sz="1600" dirty="0" err="1">
                <a:solidFill>
                  <a:srgbClr val="404040"/>
                </a:solidFill>
              </a:rPr>
              <a:t>atvėju</a:t>
            </a:r>
            <a:r>
              <a:rPr lang="lt-LT" sz="1600" dirty="0">
                <a:solidFill>
                  <a:srgbClr val="404040"/>
                </a:solidFill>
              </a:rPr>
              <a:t> T-testu)</a:t>
            </a:r>
            <a:endParaRPr lang="en-US" sz="1600" dirty="0"/>
          </a:p>
        </p:txBody>
      </p:sp>
      <p:pic>
        <p:nvPicPr>
          <p:cNvPr id="9" name="Picture 8" descr="MIFIS">
            <a:extLst>
              <a:ext uri="{FF2B5EF4-FFF2-40B4-BE49-F238E27FC236}">
                <a16:creationId xmlns:a16="http://schemas.microsoft.com/office/drawing/2014/main" id="{6BD4671F-4C0A-B50D-6813-D38FEC6E9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65722"/>
            <a:ext cx="141922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29102" y="364295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lt-LT" sz="3200" b="1" dirty="0"/>
              <a:t>Naudoti d</a:t>
            </a:r>
            <a:r>
              <a:rPr lang="en-US" sz="3200" b="1" dirty="0" err="1"/>
              <a:t>uomenys</a:t>
            </a:r>
            <a:r>
              <a:rPr lang="en-US" sz="3200" b="1" dirty="0"/>
              <a:t>: </a:t>
            </a:r>
            <a:endParaRPr lang="lt-LT" sz="3200" b="1" dirty="0"/>
          </a:p>
          <a:p>
            <a:pPr marL="0" indent="0" algn="l">
              <a:buNone/>
            </a:pPr>
            <a:r>
              <a:rPr lang="en-US" sz="3200" b="1" dirty="0"/>
              <a:t>GSE1297</a:t>
            </a:r>
          </a:p>
        </p:txBody>
      </p:sp>
      <p:sp>
        <p:nvSpPr>
          <p:cNvPr id="7" name="Text 5"/>
          <p:cNvSpPr/>
          <p:nvPr/>
        </p:nvSpPr>
        <p:spPr>
          <a:xfrm>
            <a:off x="229103" y="1785476"/>
            <a:ext cx="4159392" cy="32208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lt-LT" sz="1600" dirty="0">
                <a:solidFill>
                  <a:srgbClr val="404040"/>
                </a:solidFill>
              </a:rPr>
              <a:t>Šie duomenys: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Viešai prieinamas duomeny rinkinys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NCBI GEO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Publikuotas 2004 m.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Tiriamas mirusių žmonių </a:t>
            </a:r>
            <a:r>
              <a:rPr lang="lt-LT" sz="1600" dirty="0" err="1">
                <a:solidFill>
                  <a:srgbClr val="404040"/>
                </a:solidFill>
              </a:rPr>
              <a:t>hipokampo</a:t>
            </a:r>
            <a:r>
              <a:rPr lang="lt-LT" sz="1600" dirty="0">
                <a:solidFill>
                  <a:srgbClr val="404040"/>
                </a:solidFill>
              </a:rPr>
              <a:t> audinys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Duomenys – 22 283 X 31 (genai X žmonės)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Darbe duomenims buvo įvykdyta log2 transformacija dėl </a:t>
            </a:r>
            <a:r>
              <a:rPr lang="lt-LT" sz="1600" dirty="0" err="1"/>
              <a:t>asimetriškumo</a:t>
            </a:r>
            <a:endParaRPr lang="lt-LT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ED468F-6199-5A2D-0330-42D03B5A0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40"/>
          <a:stretch>
            <a:fillRect/>
          </a:stretch>
        </p:blipFill>
        <p:spPr>
          <a:xfrm>
            <a:off x="4755507" y="2648830"/>
            <a:ext cx="4302031" cy="2419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F5016D-C8FA-E3B9-80E4-A1DE4B13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52"/>
          <a:stretch>
            <a:fillRect/>
          </a:stretch>
        </p:blipFill>
        <p:spPr>
          <a:xfrm>
            <a:off x="4612867" y="137160"/>
            <a:ext cx="4302031" cy="25954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137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/>
              <a:t>Welch t-testas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Kas tai yra?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 = (x̄₁ − x̄₂) / √(s₁²/n₁ + s₂²/n₂)</a:t>
            </a:r>
            <a:endParaRPr lang="lt-LT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Tai – t </a:t>
            </a:r>
            <a:r>
              <a:rPr lang="en-US" sz="1600" dirty="0"/>
              <a:t>=</a:t>
            </a:r>
            <a:r>
              <a:rPr lang="lt-LT" sz="1600" dirty="0"/>
              <a:t> vidurkių skirtumas / standartinė paklaida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 err="1"/>
              <a:t>Privalumai</a:t>
            </a:r>
            <a:r>
              <a:rPr lang="lt-LT" sz="1600" dirty="0"/>
              <a:t>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Trūkumai?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9" name="Picture 8" descr="MIFIS">
            <a:extLst>
              <a:ext uri="{FF2B5EF4-FFF2-40B4-BE49-F238E27FC236}">
                <a16:creationId xmlns:a16="http://schemas.microsoft.com/office/drawing/2014/main" id="{F6524820-D908-A0BE-6D59-7E421BD7BF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65722"/>
            <a:ext cx="1419225" cy="1514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EE490B-8149-641B-8018-F67D8B12C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15303"/>
            <a:ext cx="4359575" cy="1665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137159"/>
            <a:ext cx="6418168" cy="1114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/>
              <a:t>Monte Carlo permutacinis testas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231679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Kas tai?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Nesiremia formulėmis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Simuliuoja scenarijus daug kartų ir </a:t>
            </a:r>
            <a:r>
              <a:rPr lang="lt-LT" sz="1600" dirty="0" err="1"/>
              <a:t>empiriškai</a:t>
            </a:r>
            <a:r>
              <a:rPr lang="lt-LT" sz="1600" dirty="0"/>
              <a:t> įvertina tikimybę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Kokie yra </a:t>
            </a:r>
            <a:r>
              <a:rPr lang="lt-LT" sz="1600" dirty="0" err="1"/>
              <a:t>privalumai</a:t>
            </a:r>
            <a:r>
              <a:rPr lang="lt-LT" sz="1600" dirty="0"/>
              <a:t> palyginus su t-testu?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Kokie trūkumai?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Buvo taikoma </a:t>
            </a:r>
            <a:r>
              <a:rPr lang="lt-LT" sz="1600" dirty="0" err="1"/>
              <a:t>Phipson</a:t>
            </a:r>
            <a:r>
              <a:rPr lang="lt-LT" sz="1600" dirty="0"/>
              <a:t> ir </a:t>
            </a:r>
            <a:r>
              <a:rPr lang="lt-LT" sz="1600" dirty="0" err="1"/>
              <a:t>Smyth</a:t>
            </a:r>
            <a:r>
              <a:rPr lang="lt-LT" sz="1600" dirty="0"/>
              <a:t> korekcija </a:t>
            </a:r>
            <a:endParaRPr lang="en-US" sz="1600" dirty="0"/>
          </a:p>
        </p:txBody>
      </p:sp>
      <p:pic>
        <p:nvPicPr>
          <p:cNvPr id="9" name="Picture 8" descr="MIFIS">
            <a:extLst>
              <a:ext uri="{FF2B5EF4-FFF2-40B4-BE49-F238E27FC236}">
                <a16:creationId xmlns:a16="http://schemas.microsoft.com/office/drawing/2014/main" id="{26C43ECC-9D8C-E50B-DAA3-5BEDF800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65722"/>
            <a:ext cx="141922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0759" y="2814636"/>
            <a:ext cx="2468166" cy="1839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+mj-lt"/>
                <a:ea typeface="+mj-ea"/>
                <a:cs typeface="+mj-cs"/>
              </a:rPr>
              <a:t>Monte Carlo: </a:t>
            </a:r>
            <a:r>
              <a:rPr lang="en-US" sz="2500" b="1" dirty="0" err="1">
                <a:latin typeface="+mj-lt"/>
                <a:ea typeface="+mj-ea"/>
                <a:cs typeface="+mj-cs"/>
              </a:rPr>
              <a:t>permutacijų</a:t>
            </a:r>
            <a:r>
              <a:rPr lang="en-US" sz="2500" b="1" dirty="0">
                <a:latin typeface="+mj-lt"/>
                <a:ea typeface="+mj-ea"/>
                <a:cs typeface="+mj-cs"/>
              </a:rPr>
              <a:t> </a:t>
            </a:r>
            <a:r>
              <a:rPr lang="en-US" sz="2500" b="1" dirty="0" err="1">
                <a:latin typeface="+mj-lt"/>
                <a:ea typeface="+mj-ea"/>
                <a:cs typeface="+mj-cs"/>
              </a:rPr>
              <a:t>pasiskirstymas</a:t>
            </a:r>
            <a:r>
              <a:rPr lang="en-US" sz="2500" b="1" dirty="0">
                <a:latin typeface="+mj-lt"/>
                <a:ea typeface="+mj-ea"/>
                <a:cs typeface="+mj-cs"/>
              </a:rPr>
              <a:t> (</a:t>
            </a:r>
            <a:r>
              <a:rPr lang="en-US" sz="2500" b="1" dirty="0" err="1">
                <a:latin typeface="+mj-lt"/>
                <a:ea typeface="+mj-ea"/>
                <a:cs typeface="+mj-cs"/>
              </a:rPr>
              <a:t>genas</a:t>
            </a:r>
            <a:r>
              <a:rPr lang="en-US" sz="2500" b="1" dirty="0">
                <a:latin typeface="+mj-lt"/>
                <a:ea typeface="+mj-ea"/>
                <a:cs typeface="+mj-cs"/>
              </a:rPr>
              <a:t> 1007_s_at)</a:t>
            </a:r>
          </a:p>
        </p:txBody>
      </p:sp>
      <p:sp>
        <p:nvSpPr>
          <p:cNvPr id="7" name="Text 5"/>
          <p:cNvSpPr/>
          <p:nvPr/>
        </p:nvSpPr>
        <p:spPr>
          <a:xfrm>
            <a:off x="3169181" y="2814637"/>
            <a:ext cx="5614060" cy="1839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Stebėtas</a:t>
            </a:r>
            <a:r>
              <a:rPr lang="en-US" sz="1100" dirty="0"/>
              <a:t> </a:t>
            </a:r>
            <a:r>
              <a:rPr lang="en-US" sz="1100" dirty="0" err="1"/>
              <a:t>skirtumas</a:t>
            </a:r>
            <a:r>
              <a:rPr lang="en-US" sz="1100" dirty="0"/>
              <a:t>  = +0.570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10 000 </a:t>
            </a:r>
            <a:r>
              <a:rPr lang="en-US" sz="1100" dirty="0" err="1"/>
              <a:t>atsitiktinių</a:t>
            </a:r>
            <a:r>
              <a:rPr lang="en-US" sz="1100" dirty="0"/>
              <a:t> </a:t>
            </a:r>
            <a:r>
              <a:rPr lang="en-US" sz="1100" dirty="0" err="1"/>
              <a:t>permaišymų</a:t>
            </a:r>
            <a:endParaRPr lang="en-US" sz="11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Raudona</a:t>
            </a:r>
            <a:r>
              <a:rPr lang="en-US" sz="1100" dirty="0"/>
              <a:t> </a:t>
            </a:r>
            <a:r>
              <a:rPr lang="en-US" sz="1100" dirty="0" err="1"/>
              <a:t>linija</a:t>
            </a:r>
            <a:r>
              <a:rPr lang="en-US" sz="1100" dirty="0"/>
              <a:t> — </a:t>
            </a:r>
            <a:r>
              <a:rPr lang="en-US" sz="1100" dirty="0" err="1"/>
              <a:t>stebėtas</a:t>
            </a:r>
            <a:r>
              <a:rPr lang="en-US" sz="1100" dirty="0"/>
              <a:t> </a:t>
            </a:r>
            <a:r>
              <a:rPr lang="en-US" sz="1100" dirty="0" err="1"/>
              <a:t>skirtumas</a:t>
            </a:r>
            <a:endParaRPr lang="en-US" sz="11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P-</a:t>
            </a:r>
            <a:r>
              <a:rPr lang="en-US" sz="1100" dirty="0" err="1"/>
              <a:t>reikšmė</a:t>
            </a:r>
            <a:r>
              <a:rPr lang="en-US" sz="1100" dirty="0"/>
              <a:t> = </a:t>
            </a:r>
            <a:r>
              <a:rPr lang="en-US" sz="1100" dirty="0" err="1"/>
              <a:t>plotas</a:t>
            </a:r>
            <a:r>
              <a:rPr lang="en-US" sz="1100" dirty="0"/>
              <a:t> </a:t>
            </a:r>
            <a:r>
              <a:rPr lang="en-US" sz="1100" dirty="0" err="1"/>
              <a:t>histogramos</a:t>
            </a:r>
            <a:r>
              <a:rPr lang="en-US" sz="1100" dirty="0"/>
              <a:t> </a:t>
            </a:r>
            <a:r>
              <a:rPr lang="en-US" sz="1100" dirty="0" err="1"/>
              <a:t>uodegoje</a:t>
            </a:r>
            <a:endParaRPr lang="en-US" sz="11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t-</a:t>
            </a:r>
            <a:r>
              <a:rPr lang="en-US" sz="1100" dirty="0" err="1"/>
              <a:t>testas</a:t>
            </a:r>
            <a:r>
              <a:rPr lang="en-US" sz="1100" dirty="0"/>
              <a:t>: p = 0.0293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Monte Carlo: p = 0.0266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Abu </a:t>
            </a:r>
            <a:r>
              <a:rPr lang="en-US" sz="1100" dirty="0" err="1"/>
              <a:t>metodai</a:t>
            </a:r>
            <a:r>
              <a:rPr lang="en-US" sz="1100" dirty="0"/>
              <a:t> </a:t>
            </a:r>
            <a:r>
              <a:rPr lang="en-US" sz="1100" dirty="0" err="1"/>
              <a:t>sutaria</a:t>
            </a:r>
            <a:r>
              <a:rPr lang="en-US" sz="1100" dirty="0"/>
              <a:t>: </a:t>
            </a:r>
            <a:r>
              <a:rPr lang="en-US" sz="1100" dirty="0" err="1"/>
              <a:t>genas</a:t>
            </a:r>
            <a:r>
              <a:rPr lang="en-US" sz="1100" dirty="0"/>
              <a:t> </a:t>
            </a:r>
            <a:r>
              <a:rPr lang="en-US" sz="1100" dirty="0" err="1"/>
              <a:t>reikšmingas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8C2B07-BD51-92BC-AA8B-E5C94B816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954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0759" y="2814636"/>
            <a:ext cx="2468166" cy="1839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lt-LT" sz="3200" b="1" dirty="0">
                <a:latin typeface="+mj-lt"/>
                <a:ea typeface="+mj-ea"/>
                <a:cs typeface="+mj-cs"/>
              </a:rPr>
              <a:t>Bendri rezultatai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67986" y="2814637"/>
            <a:ext cx="5614060" cy="1839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Nekoreguota</a:t>
            </a:r>
            <a:r>
              <a:rPr lang="en-US" sz="1400" dirty="0"/>
              <a:t> p &lt; 0.05:  t-</a:t>
            </a:r>
            <a:r>
              <a:rPr lang="en-US" sz="1400" dirty="0" err="1"/>
              <a:t>testas</a:t>
            </a:r>
            <a:r>
              <a:rPr lang="en-US" sz="1400" dirty="0"/>
              <a:t> 2 944,  MC 3 528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FDR </a:t>
            </a:r>
            <a:r>
              <a:rPr lang="en-US" sz="1400" dirty="0" err="1"/>
              <a:t>koreguota</a:t>
            </a:r>
            <a:r>
              <a:rPr lang="en-US" sz="1400" dirty="0"/>
              <a:t> p &lt; 0.05:  t-</a:t>
            </a:r>
            <a:r>
              <a:rPr lang="en-US" sz="1400" dirty="0" err="1"/>
              <a:t>testas</a:t>
            </a:r>
            <a:r>
              <a:rPr lang="en-US" sz="1400" dirty="0"/>
              <a:t> 1,  MC 0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Spearman </a:t>
            </a:r>
            <a:r>
              <a:rPr lang="en-US" sz="1400" dirty="0" err="1"/>
              <a:t>koreliacija</a:t>
            </a:r>
            <a:r>
              <a:rPr lang="en-US" sz="1400" dirty="0"/>
              <a:t>: ρ = 0.9948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Metodai</a:t>
            </a:r>
            <a:r>
              <a:rPr lang="en-US" sz="1400" dirty="0"/>
              <a:t> </a:t>
            </a:r>
            <a:r>
              <a:rPr lang="en-US" sz="1400" dirty="0" err="1"/>
              <a:t>beveik</a:t>
            </a:r>
            <a:r>
              <a:rPr lang="en-US" sz="1400" dirty="0"/>
              <a:t> </a:t>
            </a:r>
            <a:r>
              <a:rPr lang="en-US" sz="1400" dirty="0" err="1"/>
              <a:t>tobulai</a:t>
            </a:r>
            <a:r>
              <a:rPr lang="en-US" sz="1400" dirty="0"/>
              <a:t> </a:t>
            </a:r>
            <a:r>
              <a:rPr lang="en-US" sz="1400" dirty="0" err="1"/>
              <a:t>sutaria</a:t>
            </a:r>
            <a:r>
              <a:rPr lang="en-US" sz="1400" dirty="0"/>
              <a:t> </a:t>
            </a:r>
            <a:r>
              <a:rPr lang="en-US" sz="1400" dirty="0" err="1"/>
              <a:t>genų</a:t>
            </a:r>
            <a:r>
              <a:rPr lang="en-US" sz="1400" dirty="0"/>
              <a:t> </a:t>
            </a:r>
            <a:r>
              <a:rPr lang="lt-LT" sz="1400" dirty="0"/>
              <a:t>įvertinime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Skaičiavimo</a:t>
            </a:r>
            <a:r>
              <a:rPr lang="en-US" sz="1400" dirty="0"/>
              <a:t> </a:t>
            </a:r>
            <a:r>
              <a:rPr lang="en-US" sz="1400" dirty="0" err="1"/>
              <a:t>laikas</a:t>
            </a:r>
            <a:r>
              <a:rPr lang="en-US" sz="1400" dirty="0"/>
              <a:t>: t-</a:t>
            </a:r>
            <a:r>
              <a:rPr lang="en-US" sz="1400" dirty="0" err="1"/>
              <a:t>testas</a:t>
            </a:r>
            <a:r>
              <a:rPr lang="en-US" sz="1400" dirty="0"/>
              <a:t> 4.2 </a:t>
            </a:r>
            <a:r>
              <a:rPr lang="en-US" sz="1400" dirty="0" err="1"/>
              <a:t>sek</a:t>
            </a:r>
            <a:r>
              <a:rPr lang="en-US" sz="1400" dirty="0"/>
              <a:t>. vs MC ~80 min.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D44F6-9FB4-963A-EE4D-700EC8993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504"/>
            <a:ext cx="9144000" cy="25954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0759" y="2814636"/>
            <a:ext cx="2468166" cy="1839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lt-LT" sz="3200" b="1" dirty="0">
                <a:latin typeface="+mj-lt"/>
                <a:ea typeface="+mj-ea"/>
                <a:cs typeface="+mj-cs"/>
              </a:rPr>
              <a:t>Specifinio a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tvejo</a:t>
            </a:r>
            <a:r>
              <a:rPr lang="en-US" sz="3200" b="1" dirty="0"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analizė</a:t>
            </a:r>
            <a:r>
              <a:rPr lang="en-US" sz="3200" b="1" dirty="0">
                <a:latin typeface="+mj-lt"/>
                <a:ea typeface="+mj-ea"/>
                <a:cs typeface="+mj-cs"/>
              </a:rPr>
              <a:t>: </a:t>
            </a:r>
            <a:r>
              <a:rPr lang="en-US" sz="3200" b="1" dirty="0" err="1">
                <a:latin typeface="+mj-lt"/>
                <a:ea typeface="+mj-ea"/>
                <a:cs typeface="+mj-cs"/>
              </a:rPr>
              <a:t>genas</a:t>
            </a:r>
            <a:r>
              <a:rPr lang="en-US" sz="3200" b="1" dirty="0">
                <a:latin typeface="+mj-lt"/>
                <a:ea typeface="+mj-ea"/>
                <a:cs typeface="+mj-cs"/>
              </a:rPr>
              <a:t> 203894_at</a:t>
            </a:r>
          </a:p>
        </p:txBody>
      </p:sp>
      <p:sp>
        <p:nvSpPr>
          <p:cNvPr id="7" name="Text 5"/>
          <p:cNvSpPr/>
          <p:nvPr/>
        </p:nvSpPr>
        <p:spPr>
          <a:xfrm>
            <a:off x="3167986" y="2814637"/>
            <a:ext cx="5614060" cy="1839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Kontrolė</a:t>
            </a:r>
            <a:r>
              <a:rPr lang="en-US" sz="1100" dirty="0"/>
              <a:t>: 9.76–10.37 | </a:t>
            </a:r>
            <a:r>
              <a:rPr lang="en-US" sz="1100" dirty="0" err="1"/>
              <a:t>Sunkus</a:t>
            </a:r>
            <a:r>
              <a:rPr lang="en-US" sz="1100" dirty="0"/>
              <a:t> AD: 9.14–9.46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Grupės</a:t>
            </a:r>
            <a:r>
              <a:rPr lang="en-US" sz="1100" dirty="0"/>
              <a:t> </a:t>
            </a:r>
            <a:r>
              <a:rPr lang="en-US" sz="1100" dirty="0" err="1"/>
              <a:t>visiškai</a:t>
            </a:r>
            <a:r>
              <a:rPr lang="en-US" sz="1100" dirty="0"/>
              <a:t> </a:t>
            </a:r>
            <a:r>
              <a:rPr lang="en-US" sz="1100" dirty="0" err="1"/>
              <a:t>nesikerta</a:t>
            </a:r>
            <a:r>
              <a:rPr lang="en-US" sz="1100" dirty="0"/>
              <a:t> — </a:t>
            </a:r>
            <a:r>
              <a:rPr lang="en-US" sz="1100" dirty="0" err="1"/>
              <a:t>labai</a:t>
            </a:r>
            <a:r>
              <a:rPr lang="en-US" sz="1100" dirty="0"/>
              <a:t> </a:t>
            </a:r>
            <a:r>
              <a:rPr lang="en-US" sz="1100" dirty="0" err="1"/>
              <a:t>stiprus</a:t>
            </a:r>
            <a:r>
              <a:rPr lang="en-US" sz="1100" dirty="0"/>
              <a:t> </a:t>
            </a:r>
            <a:r>
              <a:rPr lang="en-US" sz="1100" dirty="0" err="1"/>
              <a:t>signalas</a:t>
            </a:r>
            <a:endParaRPr lang="en-US" sz="11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t-</a:t>
            </a:r>
            <a:r>
              <a:rPr lang="en-US" sz="1100" dirty="0" err="1"/>
              <a:t>testas</a:t>
            </a:r>
            <a:r>
              <a:rPr lang="en-US" sz="1100" dirty="0"/>
              <a:t>: p = 6.18×10⁻⁷, FDR = 0.014 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Monte Carlo: p = 0.0002, FDR = 0.165 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"</a:t>
            </a:r>
            <a:r>
              <a:rPr lang="en-US" sz="1100" dirty="0" err="1"/>
              <a:t>Grindų</a:t>
            </a:r>
            <a:r>
              <a:rPr lang="en-US" sz="1100" dirty="0"/>
              <a:t> </a:t>
            </a:r>
            <a:r>
              <a:rPr lang="en-US" sz="1100" dirty="0" err="1"/>
              <a:t>efektas</a:t>
            </a:r>
            <a:r>
              <a:rPr lang="en-US" sz="1100" dirty="0"/>
              <a:t>": min. p = 1/(B+1) = 0.0002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Nė</a:t>
            </a:r>
            <a:r>
              <a:rPr lang="en-US" sz="1100" dirty="0"/>
              <a:t> </a:t>
            </a:r>
            <a:r>
              <a:rPr lang="en-US" sz="1100" dirty="0" err="1"/>
              <a:t>vienas</a:t>
            </a:r>
            <a:r>
              <a:rPr lang="en-US" sz="1100" dirty="0"/>
              <a:t> </a:t>
            </a:r>
            <a:r>
              <a:rPr lang="en-US" sz="1100" dirty="0" err="1"/>
              <a:t>iš</a:t>
            </a:r>
            <a:r>
              <a:rPr lang="en-US" sz="1100" dirty="0"/>
              <a:t> 5 000 </a:t>
            </a:r>
            <a:r>
              <a:rPr lang="en-US" sz="1100" dirty="0" err="1"/>
              <a:t>permaišymų</a:t>
            </a:r>
            <a:r>
              <a:rPr lang="en-US" sz="1100" dirty="0"/>
              <a:t> </a:t>
            </a:r>
            <a:r>
              <a:rPr lang="en-US" sz="1100" dirty="0" err="1"/>
              <a:t>nepasiekė</a:t>
            </a:r>
            <a:r>
              <a:rPr lang="en-US" sz="1100" dirty="0"/>
              <a:t> Tobs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Monte Carlo </a:t>
            </a:r>
            <a:r>
              <a:rPr lang="en-US" sz="1100" dirty="0" err="1"/>
              <a:t>negali</a:t>
            </a:r>
            <a:r>
              <a:rPr lang="en-US" sz="1100" dirty="0"/>
              <a:t> </a:t>
            </a:r>
            <a:r>
              <a:rPr lang="en-US" sz="1100" dirty="0" err="1"/>
              <a:t>įvertinti</a:t>
            </a:r>
            <a:r>
              <a:rPr lang="en-US" sz="1100" dirty="0"/>
              <a:t> kai </a:t>
            </a:r>
            <a:r>
              <a:rPr lang="en-US" sz="1100" dirty="0" err="1"/>
              <a:t>signalas</a:t>
            </a:r>
            <a:r>
              <a:rPr lang="en-US" sz="1100" dirty="0"/>
              <a:t> per </a:t>
            </a:r>
            <a:r>
              <a:rPr lang="en-US" sz="1100" dirty="0" err="1"/>
              <a:t>stiprus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F1B92-A1B6-E1F1-1450-427881A3A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5954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0759" y="2487700"/>
            <a:ext cx="2468166" cy="1839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lt-LT" sz="3200" b="1" dirty="0">
                <a:latin typeface="+mj-lt"/>
                <a:ea typeface="+mj-ea"/>
                <a:cs typeface="+mj-cs"/>
              </a:rPr>
              <a:t>Stabilumo analizė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48033" y="2823321"/>
            <a:ext cx="6361496" cy="1839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Kiekvienas</a:t>
            </a:r>
            <a:r>
              <a:rPr lang="en-US" sz="1400" dirty="0"/>
              <a:t> B </a:t>
            </a:r>
            <a:r>
              <a:rPr lang="en-US" sz="1400" dirty="0" err="1"/>
              <a:t>pakartotas</a:t>
            </a:r>
            <a:r>
              <a:rPr lang="en-US" sz="1400" dirty="0"/>
              <a:t> 20 </a:t>
            </a:r>
            <a:r>
              <a:rPr lang="en-US" sz="1400" dirty="0" err="1"/>
              <a:t>kartų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 = 100: stand. </a:t>
            </a:r>
            <a:r>
              <a:rPr lang="en-US" sz="1400" dirty="0" err="1"/>
              <a:t>nukr</a:t>
            </a:r>
            <a:r>
              <a:rPr lang="en-US" sz="1400" dirty="0"/>
              <a:t>. 0.0096 — </a:t>
            </a:r>
            <a:r>
              <a:rPr lang="en-US" sz="1400" dirty="0" err="1"/>
              <a:t>nestabil</a:t>
            </a:r>
            <a:r>
              <a:rPr lang="lt-LT" sz="1400" dirty="0" err="1"/>
              <a:t>ūs</a:t>
            </a:r>
            <a:r>
              <a:rPr lang="lt-LT" sz="1400" dirty="0"/>
              <a:t> rezultatai</a:t>
            </a:r>
            <a:r>
              <a:rPr lang="en-US" sz="1400" dirty="0"/>
              <a:t> 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 = 1 000: stand. </a:t>
            </a:r>
            <a:r>
              <a:rPr lang="en-US" sz="1400" dirty="0" err="1"/>
              <a:t>nukr</a:t>
            </a:r>
            <a:r>
              <a:rPr lang="en-US" sz="1400" dirty="0"/>
              <a:t>. 0.0038 — </a:t>
            </a:r>
            <a:r>
              <a:rPr lang="lt-LT" sz="1400" dirty="0"/>
              <a:t>geresni, tačiau vis vien ne puikūs rezultatai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 = 5 000: stand. </a:t>
            </a:r>
            <a:r>
              <a:rPr lang="en-US" sz="1400" dirty="0" err="1"/>
              <a:t>nukr</a:t>
            </a:r>
            <a:r>
              <a:rPr lang="en-US" sz="1400" dirty="0"/>
              <a:t>. 0.0016 — </a:t>
            </a:r>
            <a:r>
              <a:rPr lang="en-US" sz="1400" dirty="0" err="1"/>
              <a:t>konverguoja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 = 10 000: stand. </a:t>
            </a:r>
            <a:r>
              <a:rPr lang="en-US" sz="1400" dirty="0" err="1"/>
              <a:t>nukr</a:t>
            </a:r>
            <a:r>
              <a:rPr lang="en-US" sz="1400" dirty="0"/>
              <a:t>. 0.0014 — </a:t>
            </a:r>
            <a:r>
              <a:rPr lang="en-US" sz="1400" dirty="0" err="1"/>
              <a:t>minimalus</a:t>
            </a:r>
            <a:r>
              <a:rPr lang="en-US" sz="1400" dirty="0"/>
              <a:t> </a:t>
            </a:r>
            <a:r>
              <a:rPr lang="en-US" sz="1400" dirty="0" err="1"/>
              <a:t>pokytis</a:t>
            </a:r>
            <a:r>
              <a:rPr lang="lt-LT" sz="1400" dirty="0"/>
              <a:t>, ilgesnis darbo laikas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400" dirty="0"/>
              <a:t>Galutinis variantas: </a:t>
            </a:r>
            <a:r>
              <a:rPr lang="en-US" sz="1400" dirty="0"/>
              <a:t>B = 5 000 — </a:t>
            </a:r>
            <a:r>
              <a:rPr lang="lt-LT" sz="1400" dirty="0"/>
              <a:t>tiksliausi rezultatai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5A5E6-FB2C-CA8C-E4E7-7439058D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779"/>
            <a:ext cx="9144000" cy="25954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137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/>
              <a:t>Išvados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7065981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 err="1">
                <a:solidFill>
                  <a:srgbClr val="404040"/>
                </a:solidFill>
              </a:rPr>
              <a:t>Monte</a:t>
            </a:r>
            <a:r>
              <a:rPr lang="lt-LT" sz="1600" dirty="0">
                <a:solidFill>
                  <a:srgbClr val="404040"/>
                </a:solidFill>
              </a:rPr>
              <a:t> </a:t>
            </a:r>
            <a:r>
              <a:rPr lang="lt-LT" sz="1600" dirty="0" err="1">
                <a:solidFill>
                  <a:srgbClr val="404040"/>
                </a:solidFill>
              </a:rPr>
              <a:t>Carlo</a:t>
            </a:r>
            <a:r>
              <a:rPr lang="lt-LT" sz="1600" dirty="0">
                <a:solidFill>
                  <a:srgbClr val="404040"/>
                </a:solidFill>
              </a:rPr>
              <a:t> Metodas davė patikimus ir naudingus rezultatus analizėje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solidFill>
                  <a:srgbClr val="404040"/>
                </a:solidFill>
              </a:rPr>
              <a:t>Turi </a:t>
            </a:r>
            <a:r>
              <a:rPr lang="lt-LT" sz="1600" dirty="0" err="1">
                <a:solidFill>
                  <a:srgbClr val="404040"/>
                </a:solidFill>
              </a:rPr>
              <a:t>privalumų</a:t>
            </a:r>
            <a:r>
              <a:rPr lang="lt-LT" sz="1600" dirty="0">
                <a:solidFill>
                  <a:srgbClr val="404040"/>
                </a:solidFill>
              </a:rPr>
              <a:t> lyginant su t-testu – nereikia daryti normalumo prielaidos kas ypač aktualu su mažomis biologinėmis imtimis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Turi ir trūkumų – darbo laikas su pakankamai mažais duomenimis užtrunka daug kartų ilgiau nei t-testas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/>
              <a:t>Reikia koreguoti </a:t>
            </a:r>
            <a:r>
              <a:rPr lang="lt-LT" sz="1600" dirty="0" err="1"/>
              <a:t>permutacijų</a:t>
            </a:r>
            <a:r>
              <a:rPr lang="lt-LT" sz="1600" dirty="0"/>
              <a:t> kiekį, kad būtų pasiekiami patikimi rezultatai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lt-LT" sz="1600" dirty="0" err="1"/>
              <a:t>Monte</a:t>
            </a:r>
            <a:r>
              <a:rPr lang="lt-LT" sz="1600" dirty="0"/>
              <a:t> </a:t>
            </a:r>
            <a:r>
              <a:rPr lang="lt-LT" sz="1600" dirty="0" err="1"/>
              <a:t>Carlo</a:t>
            </a:r>
            <a:r>
              <a:rPr lang="lt-LT" sz="1600" dirty="0"/>
              <a:t> Metodai nėra geras pakaitalas kitiems statistiniams metodams, o metodas, kuris yra pritaikytas specifinėms situacijoms.</a:t>
            </a:r>
            <a:endParaRPr lang="en-US" sz="1600" dirty="0"/>
          </a:p>
        </p:txBody>
      </p:sp>
      <p:pic>
        <p:nvPicPr>
          <p:cNvPr id="9" name="Picture 8" descr="MIFIS">
            <a:extLst>
              <a:ext uri="{FF2B5EF4-FFF2-40B4-BE49-F238E27FC236}">
                <a16:creationId xmlns:a16="http://schemas.microsoft.com/office/drawing/2014/main" id="{6BB6C033-798E-A0AF-05D5-C97CE2DB9E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65722"/>
            <a:ext cx="141922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4630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/>
              <a:t>Ačiū už dėmesį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/>
              <a:t>Klausimai</a:t>
            </a:r>
            <a:r>
              <a:rPr lang="en-US" sz="2800" i="1" dirty="0"/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
</a:t>
            </a:r>
            <a:r>
              <a:rPr lang="en-US" sz="1300" b="1" dirty="0">
                <a:solidFill>
                  <a:srgbClr val="404040"/>
                </a:solidFill>
              </a:rPr>
              <a:t>Duomenys: </a:t>
            </a:r>
            <a:r>
              <a:rPr lang="en-US" sz="1300" dirty="0">
                <a:solidFill>
                  <a:srgbClr val="555555"/>
                </a:solidFill>
              </a:rPr>
              <a:t>NCBI GEO · GSE1297 · Blalock et al., 2004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555555"/>
                </a:solidFill>
              </a:rPr>
              <a:t>Naudotas</a:t>
            </a:r>
            <a:r>
              <a:rPr lang="en-US" sz="1300" dirty="0">
                <a:solidFill>
                  <a:srgbClr val="555555"/>
                </a:solidFill>
              </a:rPr>
              <a:t> </a:t>
            </a:r>
            <a:r>
              <a:rPr lang="en-US" sz="1300" dirty="0" err="1">
                <a:solidFill>
                  <a:srgbClr val="555555"/>
                </a:solidFill>
              </a:rPr>
              <a:t>kodas</a:t>
            </a:r>
            <a:r>
              <a:rPr lang="en-US" sz="1300" dirty="0">
                <a:solidFill>
                  <a:srgbClr val="555555"/>
                </a:solidFill>
              </a:rPr>
              <a:t> </a:t>
            </a:r>
            <a:r>
              <a:rPr lang="en-US" sz="1300" dirty="0" err="1">
                <a:solidFill>
                  <a:srgbClr val="555555"/>
                </a:solidFill>
              </a:rPr>
              <a:t>ir</a:t>
            </a:r>
            <a:r>
              <a:rPr lang="en-US" sz="1300" dirty="0">
                <a:solidFill>
                  <a:srgbClr val="555555"/>
                </a:solidFill>
              </a:rPr>
              <a:t> </a:t>
            </a:r>
            <a:r>
              <a:rPr lang="en-US" sz="1300" dirty="0" err="1">
                <a:solidFill>
                  <a:srgbClr val="555555"/>
                </a:solidFill>
              </a:rPr>
              <a:t>literat</a:t>
            </a:r>
            <a:r>
              <a:rPr lang="lt-LT" sz="1300" dirty="0" err="1">
                <a:solidFill>
                  <a:srgbClr val="555555"/>
                </a:solidFill>
              </a:rPr>
              <a:t>ūra</a:t>
            </a:r>
            <a:r>
              <a:rPr lang="lt-LT" sz="1300" dirty="0">
                <a:solidFill>
                  <a:srgbClr val="555555"/>
                </a:solidFill>
              </a:rPr>
              <a:t> randama:</a:t>
            </a:r>
          </a:p>
          <a:p>
            <a:pPr marL="0" indent="0">
              <a:buNone/>
            </a:pPr>
            <a:r>
              <a:rPr lang="lt-LT" sz="1300" dirty="0">
                <a:solidFill>
                  <a:srgbClr val="555555"/>
                </a:solidFill>
              </a:rPr>
              <a:t>https://github.com/CakeLegion/Monte-Carlo-metod-taikymas-statistini-hipotezi-tikrinimui-gen-rai-kos-duomenyse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</a:rPr>
              <a:t>Margiris Antanas Malakauskas · lekt. Irus Grinis · VU MIF · 2026</a:t>
            </a:r>
            <a:endParaRPr lang="en-US" sz="1000" dirty="0"/>
          </a:p>
        </p:txBody>
      </p:sp>
      <p:pic>
        <p:nvPicPr>
          <p:cNvPr id="11" name="Picture 10" descr="MIFIS">
            <a:extLst>
              <a:ext uri="{FF2B5EF4-FFF2-40B4-BE49-F238E27FC236}">
                <a16:creationId xmlns:a16="http://schemas.microsoft.com/office/drawing/2014/main" id="{F6C09C24-5F23-9448-5EF6-6698DBA36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2" t="17695" r="10628" b="16872"/>
          <a:stretch>
            <a:fillRect/>
          </a:stretch>
        </p:blipFill>
        <p:spPr>
          <a:xfrm>
            <a:off x="7698105" y="46672"/>
            <a:ext cx="1419225" cy="1514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875</Words>
  <Application>Microsoft Office PowerPoint</Application>
  <PresentationFormat>On-screen Show (16:9)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 Carlo metodų taikymas statistinių hipotezių tikrinimui genų raiškos duomenyse</dc:title>
  <dc:subject>PptxGenJS Presentation</dc:subject>
  <dc:creator>Margiris Antanas Malakauskas</dc:creator>
  <cp:lastModifiedBy>marmalai</cp:lastModifiedBy>
  <cp:revision>5</cp:revision>
  <dcterms:created xsi:type="dcterms:W3CDTF">2026-06-24T19:06:51Z</dcterms:created>
  <dcterms:modified xsi:type="dcterms:W3CDTF">2026-06-25T09:22:24Z</dcterms:modified>
</cp:coreProperties>
</file>